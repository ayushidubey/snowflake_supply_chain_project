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64" r:id="rId4"/>
    <p:sldId id="259" r:id="rId5"/>
    <p:sldId id="267" r:id="rId6"/>
    <p:sldId id="268" r:id="rId7"/>
    <p:sldId id="265" r:id="rId8"/>
    <p:sldId id="269" r:id="rId9"/>
    <p:sldId id="261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80" y="4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8BC2A38-9A84-C579-3DF1-5B9303F0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6F98F90F-4A17-5A6F-FCF6-620C8F290E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>
            <a:extLst>
              <a:ext uri="{FF2B5EF4-FFF2-40B4-BE49-F238E27FC236}">
                <a16:creationId xmlns:a16="http://schemas.microsoft.com/office/drawing/2014/main" id="{5586BEAB-7A85-66C3-56D0-A362770DB5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8189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4F10B345-412E-58FC-08F8-132D3FD61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0C85F929-A4C3-B220-0089-548152B65C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>
            <a:extLst>
              <a:ext uri="{FF2B5EF4-FFF2-40B4-BE49-F238E27FC236}">
                <a16:creationId xmlns:a16="http://schemas.microsoft.com/office/drawing/2014/main" id="{10083A29-60DA-0CA3-F4CE-0852AEFFE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8316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31DECA98-1A21-5C60-03FB-90934651A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2348C1A7-06DE-A140-A65A-1670BBF3D0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>
            <a:extLst>
              <a:ext uri="{FF2B5EF4-FFF2-40B4-BE49-F238E27FC236}">
                <a16:creationId xmlns:a16="http://schemas.microsoft.com/office/drawing/2014/main" id="{5DF8BB64-BBE3-B321-5617-680E87FB0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0137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A7ADE16E-3D93-DC06-3E27-39C8C3F1A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524B2B50-B63A-61F8-C237-5C764BB7B9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>
            <a:extLst>
              <a:ext uri="{FF2B5EF4-FFF2-40B4-BE49-F238E27FC236}">
                <a16:creationId xmlns:a16="http://schemas.microsoft.com/office/drawing/2014/main" id="{B3F6B0F5-C5FC-4673-A4D4-988834634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8108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DB1C4B03-2EC2-5DEC-A427-8E2B8EC71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689D27DC-054F-7A60-BE01-9079152A36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>
            <a:extLst>
              <a:ext uri="{FF2B5EF4-FFF2-40B4-BE49-F238E27FC236}">
                <a16:creationId xmlns:a16="http://schemas.microsoft.com/office/drawing/2014/main" id="{B9F9A737-E532-C395-D5C0-C69694569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1561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50259" y="-484094"/>
            <a:ext cx="10587318" cy="633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100" b="1" i="0" u="none" strike="noStrike" cap="none" dirty="0">
                <a:solidFill>
                  <a:srgbClr val="202729"/>
                </a:solidFill>
                <a:latin typeface="+mn-lt"/>
                <a:ea typeface="Manrope SemiBold"/>
                <a:cs typeface="Manrope SemiBold"/>
                <a:sym typeface="Manrope SemiBold"/>
              </a:rPr>
              <a:t>Team Name 		: 	</a:t>
            </a:r>
            <a:r>
              <a:rPr lang="en-GB" sz="1100" b="1" i="0" u="none" strike="noStrike" cap="none" dirty="0" err="1">
                <a:solidFill>
                  <a:srgbClr val="202729"/>
                </a:solidFill>
                <a:latin typeface="+mn-lt"/>
                <a:ea typeface="Manrope SemiBold"/>
                <a:cs typeface="Manrope SemiBold"/>
                <a:sym typeface="Manrope SemiBold"/>
              </a:rPr>
              <a:t>CocoExplorers</a:t>
            </a:r>
            <a:endParaRPr sz="1100" b="1" i="0" u="none" strike="noStrike" cap="none" dirty="0">
              <a:solidFill>
                <a:srgbClr val="202729"/>
              </a:solidFill>
              <a:latin typeface="+mn-lt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 fontScale="85000" lnSpcReduction="10000"/>
          </a:bodyPr>
          <a:lstStyle/>
          <a:p>
            <a:pPr lvl="0">
              <a:buSzPts val="1343"/>
            </a:pPr>
            <a:r>
              <a:rPr lang="en-GB" sz="1343" b="1" dirty="0">
                <a:solidFill>
                  <a:srgbClr val="202729"/>
                </a:solidFill>
                <a:latin typeface="+mn-lt"/>
                <a:sym typeface="Manrope SemiBold"/>
              </a:rPr>
              <a:t>Problem Statement 	: 	</a:t>
            </a:r>
            <a:r>
              <a:rPr lang="en-IN" sz="1343" b="1" dirty="0">
                <a:solidFill>
                  <a:srgbClr val="202729"/>
                </a:solidFill>
                <a:latin typeface="+mn-lt"/>
              </a:rPr>
              <a:t>Supply Chain Ontology and Governed Conversational Analytics</a:t>
            </a:r>
            <a:endParaRPr sz="1343" b="1" dirty="0">
              <a:solidFill>
                <a:srgbClr val="202729"/>
              </a:solidFill>
              <a:latin typeface="+mn-lt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100" b="1" i="0" u="none" strike="noStrike" cap="none" dirty="0">
                <a:solidFill>
                  <a:srgbClr val="202729"/>
                </a:solidFill>
                <a:latin typeface="+mn-lt"/>
                <a:ea typeface="Manrope SemiBold"/>
                <a:cs typeface="Manrope SemiBold"/>
                <a:sym typeface="Manrope SemiBold"/>
              </a:rPr>
              <a:t>Team Leader Name 	:	Imran Syed	</a:t>
            </a:r>
            <a:endParaRPr sz="1100" b="1" i="0" u="none" strike="noStrike" cap="none" dirty="0">
              <a:solidFill>
                <a:srgbClr val="202729"/>
              </a:solidFill>
              <a:latin typeface="+mn-lt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100" b="1" dirty="0">
                <a:solidFill>
                  <a:srgbClr val="202729"/>
                </a:solidFill>
                <a:latin typeface="+mn-lt"/>
                <a:sym typeface="Manrope SemiBold"/>
              </a:rPr>
              <a:t>Team Size 		:	4</a:t>
            </a:r>
            <a:endParaRPr sz="1100" b="1" dirty="0">
              <a:solidFill>
                <a:srgbClr val="202729"/>
              </a:solidFill>
              <a:latin typeface="+mn-lt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08494" y="-84332"/>
            <a:ext cx="12317506" cy="5732098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63A9D05-933F-D659-2991-76126C4D73E0}"/>
              </a:ext>
            </a:extLst>
          </p:cNvPr>
          <p:cNvSpPr txBox="1"/>
          <p:nvPr/>
        </p:nvSpPr>
        <p:spPr>
          <a:xfrm>
            <a:off x="-1353491" y="532193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PROBLEM BRIEF</a:t>
            </a:r>
          </a:p>
        </p:txBody>
      </p:sp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0306AB52-5198-1AE7-96CA-7583635B0C6F}"/>
              </a:ext>
            </a:extLst>
          </p:cNvPr>
          <p:cNvSpPr/>
          <p:nvPr/>
        </p:nvSpPr>
        <p:spPr>
          <a:xfrm>
            <a:off x="-1254880" y="1004428"/>
            <a:ext cx="1828800" cy="36576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4">
            <a:extLst>
              <a:ext uri="{FF2B5EF4-FFF2-40B4-BE49-F238E27FC236}">
                <a16:creationId xmlns:a16="http://schemas.microsoft.com/office/drawing/2014/main" id="{E31F2675-CE27-05F8-3E19-01F2B1176171}"/>
              </a:ext>
            </a:extLst>
          </p:cNvPr>
          <p:cNvSpPr/>
          <p:nvPr/>
        </p:nvSpPr>
        <p:spPr>
          <a:xfrm>
            <a:off x="-1170611" y="1432873"/>
            <a:ext cx="5303520" cy="3255799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8724DB-C400-81D7-3490-F4D15285AF6C}"/>
              </a:ext>
            </a:extLst>
          </p:cNvPr>
          <p:cNvSpPr txBox="1"/>
          <p:nvPr/>
        </p:nvSpPr>
        <p:spPr>
          <a:xfrm>
            <a:off x="-722376" y="14829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  <a:latin typeface="Calibri"/>
              </a:defRPr>
            </a:pPr>
            <a:r>
              <a:rPr dirty="0"/>
              <a:t>THE PROBLEM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F9F385-2332-D9A2-9A19-70ECCD48202F}"/>
              </a:ext>
            </a:extLst>
          </p:cNvPr>
          <p:cNvSpPr txBox="1"/>
          <p:nvPr/>
        </p:nvSpPr>
        <p:spPr>
          <a:xfrm>
            <a:off x="-905256" y="2080444"/>
            <a:ext cx="4503868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sz="1100" dirty="0">
                <a:solidFill>
                  <a:srgbClr val="B0BEC5"/>
                </a:solidFill>
                <a:latin typeface="Calibri"/>
              </a:rPr>
              <a:t>5 siloed source systems (ERP, SupplierNet, </a:t>
            </a:r>
            <a:r>
              <a:rPr sz="1100" dirty="0" err="1">
                <a:solidFill>
                  <a:srgbClr val="B0BEC5"/>
                </a:solidFill>
                <a:latin typeface="Calibri"/>
              </a:rPr>
              <a:t>FreightLink</a:t>
            </a:r>
            <a:r>
              <a:rPr sz="1100" dirty="0">
                <a:solidFill>
                  <a:srgbClr val="B0BEC5"/>
                </a:solidFill>
                <a:latin typeface="Calibri"/>
              </a:rPr>
              <a:t>, IoT, Finance) with zero unified view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sz="1100" dirty="0">
                <a:solidFill>
                  <a:srgbClr val="B0BEC5"/>
                </a:solidFill>
                <a:latin typeface="Calibri"/>
              </a:rPr>
              <a:t>Each system uses different IDs for the same supplier/part/plant — no identity resolution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sz="1100" dirty="0">
                <a:solidFill>
                  <a:srgbClr val="B0BEC5"/>
                </a:solidFill>
                <a:latin typeface="Calibri"/>
              </a:rPr>
              <a:t>KPIs defined ad-hoc: "On-Time Delivery" means 3 different things to 3 different teams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sz="1100" dirty="0">
                <a:solidFill>
                  <a:srgbClr val="B0BEC5"/>
                </a:solidFill>
                <a:latin typeface="Calibri"/>
              </a:rPr>
              <a:t>Analysts spend 60%+ of time finding and joining data, not analyzing it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sz="1100" dirty="0">
                <a:solidFill>
                  <a:srgbClr val="B0BEC5"/>
                </a:solidFill>
                <a:latin typeface="Calibri"/>
              </a:rPr>
              <a:t>No audit trail — when a metric is wrong, no one can trace it back to source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sz="1100" dirty="0">
                <a:solidFill>
                  <a:srgbClr val="B0BEC5"/>
                </a:solidFill>
                <a:latin typeface="Calibri"/>
              </a:rPr>
              <a:t>Leadership gets conflicting numbers in every meeting</a:t>
            </a:r>
          </a:p>
        </p:txBody>
      </p:sp>
      <p:sp>
        <p:nvSpPr>
          <p:cNvPr id="37" name="Rounded Rectangle 10">
            <a:extLst>
              <a:ext uri="{FF2B5EF4-FFF2-40B4-BE49-F238E27FC236}">
                <a16:creationId xmlns:a16="http://schemas.microsoft.com/office/drawing/2014/main" id="{6944C6A8-3805-DB72-77D2-A35C446993EB}"/>
              </a:ext>
            </a:extLst>
          </p:cNvPr>
          <p:cNvSpPr/>
          <p:nvPr/>
        </p:nvSpPr>
        <p:spPr>
          <a:xfrm>
            <a:off x="4764006" y="1371599"/>
            <a:ext cx="5303520" cy="3415553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54FF11-7424-AE31-C34F-EE8E9E5B402D}"/>
              </a:ext>
            </a:extLst>
          </p:cNvPr>
          <p:cNvSpPr txBox="1"/>
          <p:nvPr/>
        </p:nvSpPr>
        <p:spPr>
          <a:xfrm>
            <a:off x="5154867" y="14829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5E8"/>
                </a:solidFill>
                <a:latin typeface="Calibri"/>
              </a:defRPr>
            </a:pPr>
            <a:r>
              <a:rPr dirty="0"/>
              <a:t>TARGET USERS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2E2F76-BDDC-D5B7-2BD5-7A11597FD0DF}"/>
              </a:ext>
            </a:extLst>
          </p:cNvPr>
          <p:cNvSpPr txBox="1"/>
          <p:nvPr/>
        </p:nvSpPr>
        <p:spPr>
          <a:xfrm>
            <a:off x="4939714" y="2196985"/>
            <a:ext cx="475488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sz="1100" dirty="0">
                <a:solidFill>
                  <a:srgbClr val="B0BEC5"/>
                </a:solidFill>
                <a:latin typeface="Calibri"/>
              </a:rPr>
              <a:t>VP Supply Chain — Executive KPI dashboard with drill-down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sz="1100" dirty="0">
                <a:solidFill>
                  <a:srgbClr val="B0BEC5"/>
                </a:solidFill>
                <a:latin typeface="Calibri"/>
              </a:rPr>
              <a:t>Logistics Manager — OTD, OTIF, carrier performance analysis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sz="1100" dirty="0">
                <a:solidFill>
                  <a:srgbClr val="B0BEC5"/>
                </a:solidFill>
                <a:latin typeface="Calibri"/>
              </a:rPr>
              <a:t>Procurement Lead — Supplier scorecard, defect rates, lead times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Calibri" panose="020F050202020403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sz="1100" dirty="0">
                <a:solidFill>
                  <a:srgbClr val="B0BEC5"/>
                </a:solidFill>
                <a:latin typeface="Calibri"/>
              </a:rPr>
              <a:t>Planning Analyst — Inventory health, stockout risk, days of inventory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sz="1100" dirty="0">
                <a:solidFill>
                  <a:srgbClr val="B0BEC5"/>
                </a:solidFill>
                <a:latin typeface="Calibri"/>
              </a:rPr>
              <a:t>Finance Controller — Landed cost, freight cost/kg, duty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54899F99-7FAB-110C-1850-12C5DD4F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>
            <a:extLst>
              <a:ext uri="{FF2B5EF4-FFF2-40B4-BE49-F238E27FC236}">
                <a16:creationId xmlns:a16="http://schemas.microsoft.com/office/drawing/2014/main" id="{66A896A1-183C-1053-6D55-EA212D9366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83572" y="-215153"/>
            <a:ext cx="12057530" cy="593463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615D71E-BCEC-A79F-6D13-B948BB8FF6AD}"/>
              </a:ext>
            </a:extLst>
          </p:cNvPr>
          <p:cNvSpPr txBox="1"/>
          <p:nvPr/>
        </p:nvSpPr>
        <p:spPr>
          <a:xfrm>
            <a:off x="-1454075" y="532193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PROBLEM BRIEF</a:t>
            </a:r>
          </a:p>
        </p:txBody>
      </p:sp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19F22353-323A-6EF4-3100-2D4AD0F0ADAF}"/>
              </a:ext>
            </a:extLst>
          </p:cNvPr>
          <p:cNvSpPr/>
          <p:nvPr/>
        </p:nvSpPr>
        <p:spPr>
          <a:xfrm>
            <a:off x="-1355464" y="1004428"/>
            <a:ext cx="1828800" cy="36576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4">
            <a:extLst>
              <a:ext uri="{FF2B5EF4-FFF2-40B4-BE49-F238E27FC236}">
                <a16:creationId xmlns:a16="http://schemas.microsoft.com/office/drawing/2014/main" id="{A3CF25E9-9650-A696-5934-F638B65331F6}"/>
              </a:ext>
            </a:extLst>
          </p:cNvPr>
          <p:cNvSpPr/>
          <p:nvPr/>
        </p:nvSpPr>
        <p:spPr>
          <a:xfrm>
            <a:off x="-1271195" y="1432873"/>
            <a:ext cx="5303520" cy="3255799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9A03EA-EC53-5D6A-ED4D-6A9C76EF31D2}"/>
              </a:ext>
            </a:extLst>
          </p:cNvPr>
          <p:cNvSpPr txBox="1"/>
          <p:nvPr/>
        </p:nvSpPr>
        <p:spPr>
          <a:xfrm>
            <a:off x="-822960" y="1482984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5350"/>
                </a:solidFill>
                <a:latin typeface="Calibri"/>
              </a:defRPr>
            </a:pPr>
            <a:r>
              <a:rPr lang="en-IN" dirty="0"/>
              <a:t>OUR SOLUTION</a:t>
            </a:r>
            <a:endParaRPr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DBF230-F2E9-0B13-A6B4-077EE99E2E7D}"/>
              </a:ext>
            </a:extLst>
          </p:cNvPr>
          <p:cNvSpPr txBox="1"/>
          <p:nvPr/>
        </p:nvSpPr>
        <p:spPr>
          <a:xfrm>
            <a:off x="-1005840" y="2080444"/>
            <a:ext cx="450386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lang="en-IN" dirty="0">
                <a:solidFill>
                  <a:srgbClr val="B0BEC5"/>
                </a:solidFill>
                <a:latin typeface="Calibri"/>
              </a:rPr>
              <a:t>Single governed database (SUPPLY_CHAIN_HUB) unifying all 5 systems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lang="en-IN" dirty="0">
                <a:solidFill>
                  <a:srgbClr val="B0BEC5"/>
                </a:solidFill>
                <a:latin typeface="Calibri"/>
              </a:rPr>
              <a:t>Identity resolution via XREF tables — canonical IDs for suppliers, parts, plants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lang="en-IN" dirty="0">
                <a:solidFill>
                  <a:srgbClr val="B0BEC5"/>
                </a:solidFill>
                <a:latin typeface="Calibri"/>
              </a:rPr>
              <a:t>24 governed KPIs in KPI_REGISTRY — one formula, one definition, enforced everywhere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lang="en-IN" dirty="0">
                <a:solidFill>
                  <a:srgbClr val="B0BEC5"/>
                </a:solidFill>
                <a:latin typeface="Calibri"/>
              </a:rPr>
              <a:t>Multi-layer architecture: RAW → CURATED → ONTOLOGY → SEMANTIC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lang="en-IN" dirty="0">
                <a:solidFill>
                  <a:srgbClr val="B0BEC5"/>
                </a:solidFill>
                <a:latin typeface="Calibri"/>
              </a:rPr>
              <a:t>Natural language querying via Cortex Analyst with full evidence chain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lang="en-IN" dirty="0" err="1">
                <a:solidFill>
                  <a:srgbClr val="B0BEC5"/>
                </a:solidFill>
                <a:latin typeface="Calibri"/>
              </a:rPr>
              <a:t>Streamlit</a:t>
            </a:r>
            <a:r>
              <a:rPr lang="en-IN" dirty="0">
                <a:solidFill>
                  <a:srgbClr val="B0BEC5"/>
                </a:solidFill>
                <a:latin typeface="Calibri"/>
              </a:rPr>
              <a:t> dashboard + MCP Server for AI agent access</a:t>
            </a:r>
          </a:p>
        </p:txBody>
      </p:sp>
      <p:sp>
        <p:nvSpPr>
          <p:cNvPr id="37" name="Rounded Rectangle 10">
            <a:extLst>
              <a:ext uri="{FF2B5EF4-FFF2-40B4-BE49-F238E27FC236}">
                <a16:creationId xmlns:a16="http://schemas.microsoft.com/office/drawing/2014/main" id="{E89BAF15-3884-39E7-E8B5-24FA369CDB5C}"/>
              </a:ext>
            </a:extLst>
          </p:cNvPr>
          <p:cNvSpPr/>
          <p:nvPr/>
        </p:nvSpPr>
        <p:spPr>
          <a:xfrm>
            <a:off x="4663422" y="1371599"/>
            <a:ext cx="5303520" cy="3415553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205AD1-658F-734A-205D-198F7682EDB3}"/>
              </a:ext>
            </a:extLst>
          </p:cNvPr>
          <p:cNvSpPr txBox="1"/>
          <p:nvPr/>
        </p:nvSpPr>
        <p:spPr>
          <a:xfrm>
            <a:off x="4937742" y="1482984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F43"/>
                </a:solidFill>
                <a:latin typeface="Calibri"/>
              </a:defRPr>
            </a:pPr>
            <a:r>
              <a:rPr lang="en-US" dirty="0"/>
              <a:t>INDUSTRY CONTEXT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BC5329-E397-8474-0153-8F116F954FA4}"/>
              </a:ext>
            </a:extLst>
          </p:cNvPr>
          <p:cNvSpPr txBox="1"/>
          <p:nvPr/>
        </p:nvSpPr>
        <p:spPr>
          <a:xfrm>
            <a:off x="4874989" y="2080444"/>
            <a:ext cx="475488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lang="en-US" dirty="0">
                <a:solidFill>
                  <a:srgbClr val="B0BEC5"/>
                </a:solidFill>
                <a:latin typeface="Calibri"/>
              </a:rPr>
              <a:t>Global manufacturing &amp; distribution with multi-country operations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lang="en-US" dirty="0">
                <a:solidFill>
                  <a:srgbClr val="B0BEC5"/>
                </a:solidFill>
                <a:latin typeface="Calibri"/>
              </a:rPr>
              <a:t>$50M+ annual freight spend across 15 carriers and 20 plants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lang="en-US" dirty="0">
                <a:solidFill>
                  <a:srgbClr val="B0BEC5"/>
                </a:solidFill>
                <a:latin typeface="Calibri"/>
              </a:rPr>
              <a:t>Regulatory pressure for supply chain transparency (EU CSDDD, SEC)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lang="en-US" dirty="0">
                <a:solidFill>
                  <a:srgbClr val="B0BEC5"/>
                </a:solidFill>
                <a:latin typeface="Calibri"/>
              </a:rPr>
              <a:t>Need for governed, auditable, single-source-of-truth analytics</a:t>
            </a:r>
          </a:p>
          <a:p>
            <a:pPr marL="171450" indent="-1714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rgbClr val="B0BEC5"/>
                </a:solidFill>
                <a:latin typeface="Calibri"/>
              </a:defRPr>
            </a:pPr>
            <a:r>
              <a:rPr lang="en-US" dirty="0">
                <a:solidFill>
                  <a:srgbClr val="B0BEC5"/>
                </a:solidFill>
                <a:latin typeface="Calibri"/>
              </a:rPr>
              <a:t>Growing AI adoption requires governed data access (MCP protocol)</a:t>
            </a:r>
          </a:p>
        </p:txBody>
      </p:sp>
    </p:spTree>
    <p:extLst>
      <p:ext uri="{BB962C8B-B14F-4D97-AF65-F5344CB8AC3E}">
        <p14:creationId xmlns:p14="http://schemas.microsoft.com/office/powerpoint/2010/main" val="3618541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18360" y="0"/>
            <a:ext cx="12649200" cy="640080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D65812EB-4988-1D2B-BF78-AB89F6212F39}"/>
              </a:ext>
            </a:extLst>
          </p:cNvPr>
          <p:cNvSpPr/>
          <p:nvPr/>
        </p:nvSpPr>
        <p:spPr>
          <a:xfrm>
            <a:off x="-2118360" y="0"/>
            <a:ext cx="12191695" cy="54864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F6A177-9D05-AD6D-F9A1-EAE266C139F1}"/>
              </a:ext>
            </a:extLst>
          </p:cNvPr>
          <p:cNvSpPr txBox="1"/>
          <p:nvPr/>
        </p:nvSpPr>
        <p:spPr>
          <a:xfrm>
            <a:off x="-1940859" y="442478"/>
            <a:ext cx="77782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ARCHITECTURE DIAGRAM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3087269C-853E-7BBF-29CA-795D53630D03}"/>
              </a:ext>
            </a:extLst>
          </p:cNvPr>
          <p:cNvSpPr/>
          <p:nvPr/>
        </p:nvSpPr>
        <p:spPr>
          <a:xfrm>
            <a:off x="-1805940" y="896112"/>
            <a:ext cx="2286000" cy="36576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22E24F60-10FA-9DC3-C543-05F73589942D}"/>
              </a:ext>
            </a:extLst>
          </p:cNvPr>
          <p:cNvSpPr/>
          <p:nvPr/>
        </p:nvSpPr>
        <p:spPr>
          <a:xfrm>
            <a:off x="-1325880" y="1188720"/>
            <a:ext cx="1554480" cy="5486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B0BEC5"/>
                </a:solidFill>
                <a:latin typeface="Calibri"/>
              </a:defRPr>
            </a:pPr>
            <a:r>
              <a:t>ERP (SAP)</a:t>
            </a:r>
            <a:br/>
            <a:r>
              <a:t>(CSV+Parquet)</a:t>
            </a:r>
          </a:p>
        </p:txBody>
      </p:sp>
      <p:sp>
        <p:nvSpPr>
          <p:cNvPr id="11" name="Right Arrow 5">
            <a:extLst>
              <a:ext uri="{FF2B5EF4-FFF2-40B4-BE49-F238E27FC236}">
                <a16:creationId xmlns:a16="http://schemas.microsoft.com/office/drawing/2014/main" id="{85D63AFF-E982-6014-64AF-6A7E3918F4F9}"/>
              </a:ext>
            </a:extLst>
          </p:cNvPr>
          <p:cNvSpPr/>
          <p:nvPr/>
        </p:nvSpPr>
        <p:spPr>
          <a:xfrm>
            <a:off x="320040" y="1353312"/>
            <a:ext cx="320040" cy="201168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9CBD1170-FFA7-8739-9A6B-C77308AB1C28}"/>
              </a:ext>
            </a:extLst>
          </p:cNvPr>
          <p:cNvSpPr/>
          <p:nvPr/>
        </p:nvSpPr>
        <p:spPr>
          <a:xfrm>
            <a:off x="-1325880" y="1965960"/>
            <a:ext cx="1554480" cy="5486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B0BEC5"/>
                </a:solidFill>
                <a:latin typeface="Calibri"/>
              </a:defRPr>
            </a:pPr>
            <a:r>
              <a:t>SupplierNet</a:t>
            </a:r>
            <a:br/>
            <a:r>
              <a:t>(JSON)</a:t>
            </a:r>
          </a:p>
        </p:txBody>
      </p:sp>
      <p:sp>
        <p:nvSpPr>
          <p:cNvPr id="15" name="Right Arrow 7">
            <a:extLst>
              <a:ext uri="{FF2B5EF4-FFF2-40B4-BE49-F238E27FC236}">
                <a16:creationId xmlns:a16="http://schemas.microsoft.com/office/drawing/2014/main" id="{CB8F923C-F90C-0ABE-0DE4-16DA82E49328}"/>
              </a:ext>
            </a:extLst>
          </p:cNvPr>
          <p:cNvSpPr/>
          <p:nvPr/>
        </p:nvSpPr>
        <p:spPr>
          <a:xfrm>
            <a:off x="320040" y="2130552"/>
            <a:ext cx="320040" cy="201168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435EB1A4-9DFF-0763-63D8-709C6A5A844C}"/>
              </a:ext>
            </a:extLst>
          </p:cNvPr>
          <p:cNvSpPr/>
          <p:nvPr/>
        </p:nvSpPr>
        <p:spPr>
          <a:xfrm>
            <a:off x="-1325880" y="2743200"/>
            <a:ext cx="1554480" cy="5486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B0BEC5"/>
                </a:solidFill>
                <a:latin typeface="Calibri"/>
              </a:defRPr>
            </a:pPr>
            <a:r>
              <a:t>FreightLink</a:t>
            </a:r>
            <a:br/>
            <a:r>
              <a:t>(CSV+JSON)</a:t>
            </a:r>
          </a:p>
        </p:txBody>
      </p:sp>
      <p:sp>
        <p:nvSpPr>
          <p:cNvPr id="19" name="Right Arrow 9">
            <a:extLst>
              <a:ext uri="{FF2B5EF4-FFF2-40B4-BE49-F238E27FC236}">
                <a16:creationId xmlns:a16="http://schemas.microsoft.com/office/drawing/2014/main" id="{4DBBC377-EDDB-3F3C-3CD0-5708F44A08D0}"/>
              </a:ext>
            </a:extLst>
          </p:cNvPr>
          <p:cNvSpPr/>
          <p:nvPr/>
        </p:nvSpPr>
        <p:spPr>
          <a:xfrm>
            <a:off x="320040" y="2907792"/>
            <a:ext cx="320040" cy="201168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32A53AA9-3049-474E-03B8-5A399943BFEB}"/>
              </a:ext>
            </a:extLst>
          </p:cNvPr>
          <p:cNvSpPr/>
          <p:nvPr/>
        </p:nvSpPr>
        <p:spPr>
          <a:xfrm>
            <a:off x="-1325880" y="3520440"/>
            <a:ext cx="1554480" cy="5486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B0BEC5"/>
                </a:solidFill>
                <a:latin typeface="Calibri"/>
              </a:defRPr>
            </a:pPr>
            <a:r>
              <a:t>Plant IoT</a:t>
            </a:r>
            <a:br/>
            <a:r>
              <a:t>(JSON)</a:t>
            </a:r>
          </a:p>
        </p:txBody>
      </p:sp>
      <p:sp>
        <p:nvSpPr>
          <p:cNvPr id="23" name="Right Arrow 11">
            <a:extLst>
              <a:ext uri="{FF2B5EF4-FFF2-40B4-BE49-F238E27FC236}">
                <a16:creationId xmlns:a16="http://schemas.microsoft.com/office/drawing/2014/main" id="{D8BCF937-930A-4CF1-8561-D8A04AC28F59}"/>
              </a:ext>
            </a:extLst>
          </p:cNvPr>
          <p:cNvSpPr/>
          <p:nvPr/>
        </p:nvSpPr>
        <p:spPr>
          <a:xfrm>
            <a:off x="320040" y="3685032"/>
            <a:ext cx="320040" cy="201168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12623438-F877-4630-1DA9-2C06CE1A4F40}"/>
              </a:ext>
            </a:extLst>
          </p:cNvPr>
          <p:cNvSpPr/>
          <p:nvPr/>
        </p:nvSpPr>
        <p:spPr>
          <a:xfrm>
            <a:off x="-1325880" y="4297680"/>
            <a:ext cx="1554480" cy="5486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B0BEC5"/>
                </a:solidFill>
                <a:latin typeface="Calibri"/>
              </a:defRPr>
            </a:pPr>
            <a:r>
              <a:t>Finance/FX</a:t>
            </a:r>
            <a:br/>
            <a:r>
              <a:t>(CSV)</a:t>
            </a:r>
          </a:p>
        </p:txBody>
      </p:sp>
      <p:sp>
        <p:nvSpPr>
          <p:cNvPr id="27" name="Right Arrow 13">
            <a:extLst>
              <a:ext uri="{FF2B5EF4-FFF2-40B4-BE49-F238E27FC236}">
                <a16:creationId xmlns:a16="http://schemas.microsoft.com/office/drawing/2014/main" id="{C01FCA8B-CDDA-C6AA-5534-2C18F3023DDD}"/>
              </a:ext>
            </a:extLst>
          </p:cNvPr>
          <p:cNvSpPr/>
          <p:nvPr/>
        </p:nvSpPr>
        <p:spPr>
          <a:xfrm>
            <a:off x="320040" y="4462272"/>
            <a:ext cx="320040" cy="201168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638A1B5A-CAE5-0025-4D5D-C4040B57F59C}"/>
              </a:ext>
            </a:extLst>
          </p:cNvPr>
          <p:cNvSpPr/>
          <p:nvPr/>
        </p:nvSpPr>
        <p:spPr>
          <a:xfrm>
            <a:off x="777240" y="1188720"/>
            <a:ext cx="1188720" cy="3840480"/>
          </a:xfrm>
          <a:prstGeom prst="roundRect">
            <a:avLst/>
          </a:prstGeom>
          <a:solidFill>
            <a:srgbClr val="1E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B0BEC5"/>
                </a:solidFill>
                <a:latin typeface="Calibri"/>
              </a:defRPr>
            </a:pPr>
            <a:r>
              <a:t>Internal</a:t>
            </a:r>
            <a:br/>
            <a:r>
              <a:t>Stages</a:t>
            </a:r>
            <a:br/>
            <a:br/>
            <a:r>
              <a:t>STG_ERP</a:t>
            </a:r>
            <a:br/>
            <a:r>
              <a:t>STG_SUPPLIER</a:t>
            </a:r>
            <a:br/>
            <a:r>
              <a:t>STG_FREIGHT</a:t>
            </a:r>
            <a:br/>
            <a:r>
              <a:t>STG_PLANT</a:t>
            </a:r>
            <a:br/>
            <a:r>
              <a:t>STG_FINANCE</a:t>
            </a:r>
          </a:p>
        </p:txBody>
      </p:sp>
      <p:sp>
        <p:nvSpPr>
          <p:cNvPr id="31" name="Right Arrow 15">
            <a:extLst>
              <a:ext uri="{FF2B5EF4-FFF2-40B4-BE49-F238E27FC236}">
                <a16:creationId xmlns:a16="http://schemas.microsoft.com/office/drawing/2014/main" id="{763F27E7-AD94-6F21-08D5-49A9F8FAF9FA}"/>
              </a:ext>
            </a:extLst>
          </p:cNvPr>
          <p:cNvSpPr/>
          <p:nvPr/>
        </p:nvSpPr>
        <p:spPr>
          <a:xfrm>
            <a:off x="2057400" y="2926080"/>
            <a:ext cx="320040" cy="201168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16">
            <a:extLst>
              <a:ext uri="{FF2B5EF4-FFF2-40B4-BE49-F238E27FC236}">
                <a16:creationId xmlns:a16="http://schemas.microsoft.com/office/drawing/2014/main" id="{CA96DD8B-D057-E796-773E-A77867D5E4DE}"/>
              </a:ext>
            </a:extLst>
          </p:cNvPr>
          <p:cNvSpPr/>
          <p:nvPr/>
        </p:nvSpPr>
        <p:spPr>
          <a:xfrm>
            <a:off x="2514600" y="1188720"/>
            <a:ext cx="1280160" cy="173736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SC_RAW</a:t>
            </a:r>
            <a:br/>
            <a:br/>
            <a:r>
              <a:t>16 Tables</a:t>
            </a:r>
            <a:br/>
            <a:r>
              <a:t>155K+ rows</a:t>
            </a:r>
            <a:br/>
            <a:r>
              <a:t>COPY INTO</a:t>
            </a:r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4BDDB64F-499C-B93F-9615-0BAA8360010F}"/>
              </a:ext>
            </a:extLst>
          </p:cNvPr>
          <p:cNvSpPr/>
          <p:nvPr/>
        </p:nvSpPr>
        <p:spPr>
          <a:xfrm>
            <a:off x="2514600" y="3200400"/>
            <a:ext cx="1280160" cy="82296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XREF</a:t>
            </a:r>
            <a:br/>
            <a:r>
              <a:t>Identity</a:t>
            </a:r>
            <a:br/>
            <a:r>
              <a:t>Resolution</a:t>
            </a:r>
          </a:p>
        </p:txBody>
      </p:sp>
      <p:sp>
        <p:nvSpPr>
          <p:cNvPr id="37" name="Right Arrow 18">
            <a:extLst>
              <a:ext uri="{FF2B5EF4-FFF2-40B4-BE49-F238E27FC236}">
                <a16:creationId xmlns:a16="http://schemas.microsoft.com/office/drawing/2014/main" id="{35811A6E-FCDD-E77E-57BF-80C169064AED}"/>
              </a:ext>
            </a:extLst>
          </p:cNvPr>
          <p:cNvSpPr/>
          <p:nvPr/>
        </p:nvSpPr>
        <p:spPr>
          <a:xfrm>
            <a:off x="3886200" y="1920240"/>
            <a:ext cx="320040" cy="201168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19">
            <a:extLst>
              <a:ext uri="{FF2B5EF4-FFF2-40B4-BE49-F238E27FC236}">
                <a16:creationId xmlns:a16="http://schemas.microsoft.com/office/drawing/2014/main" id="{F70C4F9F-E822-678A-2F91-41E89BB6C937}"/>
              </a:ext>
            </a:extLst>
          </p:cNvPr>
          <p:cNvSpPr/>
          <p:nvPr/>
        </p:nvSpPr>
        <p:spPr>
          <a:xfrm>
            <a:off x="4343400" y="1188720"/>
            <a:ext cx="1280160" cy="173736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SC_CURATED</a:t>
            </a:r>
            <a:br/>
            <a:br/>
            <a:r>
              <a:t>11 Secure</a:t>
            </a:r>
            <a:br/>
            <a:r>
              <a:t>Views</a:t>
            </a:r>
            <a:br/>
            <a:r>
              <a:t>5 Dims + 6 Facts</a:t>
            </a:r>
          </a:p>
        </p:txBody>
      </p:sp>
      <p:sp>
        <p:nvSpPr>
          <p:cNvPr id="41" name="Rounded Rectangle 20">
            <a:extLst>
              <a:ext uri="{FF2B5EF4-FFF2-40B4-BE49-F238E27FC236}">
                <a16:creationId xmlns:a16="http://schemas.microsoft.com/office/drawing/2014/main" id="{87B9400B-7E8E-5DC3-0DB8-C98D5879E463}"/>
              </a:ext>
            </a:extLst>
          </p:cNvPr>
          <p:cNvSpPr/>
          <p:nvPr/>
        </p:nvSpPr>
        <p:spPr>
          <a:xfrm>
            <a:off x="4343400" y="3200400"/>
            <a:ext cx="1280160" cy="137160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SC_ONT</a:t>
            </a:r>
            <a:br/>
            <a:br/>
            <a:r>
              <a:t>19 Views</a:t>
            </a:r>
            <a:br/>
            <a:r>
              <a:t>+KPI Registry</a:t>
            </a:r>
            <a:br/>
            <a:r>
              <a:t>(24 KPIs)</a:t>
            </a:r>
          </a:p>
        </p:txBody>
      </p:sp>
      <p:sp>
        <p:nvSpPr>
          <p:cNvPr id="43" name="Right Arrow 21">
            <a:extLst>
              <a:ext uri="{FF2B5EF4-FFF2-40B4-BE49-F238E27FC236}">
                <a16:creationId xmlns:a16="http://schemas.microsoft.com/office/drawing/2014/main" id="{B65F893E-0811-19EA-D44E-C31032347487}"/>
              </a:ext>
            </a:extLst>
          </p:cNvPr>
          <p:cNvSpPr/>
          <p:nvPr/>
        </p:nvSpPr>
        <p:spPr>
          <a:xfrm>
            <a:off x="5715000" y="1920240"/>
            <a:ext cx="320040" cy="201168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22">
            <a:extLst>
              <a:ext uri="{FF2B5EF4-FFF2-40B4-BE49-F238E27FC236}">
                <a16:creationId xmlns:a16="http://schemas.microsoft.com/office/drawing/2014/main" id="{C1ABCE62-FC01-48D9-FCD6-026DCAD8414E}"/>
              </a:ext>
            </a:extLst>
          </p:cNvPr>
          <p:cNvSpPr/>
          <p:nvPr/>
        </p:nvSpPr>
        <p:spPr>
          <a:xfrm>
            <a:off x="6172200" y="1188720"/>
            <a:ext cx="1371600" cy="2286000"/>
          </a:xfrm>
          <a:prstGeom prst="round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SC_SEM</a:t>
            </a:r>
            <a:br/>
            <a:br/>
            <a:r>
              <a:t>7 Governed</a:t>
            </a:r>
            <a:br/>
            <a:r>
              <a:t>Semantic Views</a:t>
            </a:r>
            <a:br/>
            <a:br/>
            <a:r>
              <a:t>SEM_DELIVERY</a:t>
            </a:r>
            <a:br/>
            <a:r>
              <a:t>SEM_FULFILLMENT</a:t>
            </a:r>
            <a:br/>
            <a:r>
              <a:t>SEM_INVENTORY</a:t>
            </a:r>
            <a:br/>
            <a:r>
              <a:t>SEM_PROCUREMENT</a:t>
            </a:r>
            <a:br/>
            <a:r>
              <a:t>SEM_COST</a:t>
            </a:r>
          </a:p>
        </p:txBody>
      </p:sp>
      <p:sp>
        <p:nvSpPr>
          <p:cNvPr id="47" name="Right Arrow 23">
            <a:extLst>
              <a:ext uri="{FF2B5EF4-FFF2-40B4-BE49-F238E27FC236}">
                <a16:creationId xmlns:a16="http://schemas.microsoft.com/office/drawing/2014/main" id="{82E6CD76-05D8-F5A0-496E-E8A0758F33C2}"/>
              </a:ext>
            </a:extLst>
          </p:cNvPr>
          <p:cNvSpPr/>
          <p:nvPr/>
        </p:nvSpPr>
        <p:spPr>
          <a:xfrm>
            <a:off x="7635240" y="1645920"/>
            <a:ext cx="320040" cy="201168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ight Arrow 24">
            <a:extLst>
              <a:ext uri="{FF2B5EF4-FFF2-40B4-BE49-F238E27FC236}">
                <a16:creationId xmlns:a16="http://schemas.microsoft.com/office/drawing/2014/main" id="{DD6527CB-7C00-9BA5-6EA2-74D259F9E762}"/>
              </a:ext>
            </a:extLst>
          </p:cNvPr>
          <p:cNvSpPr/>
          <p:nvPr/>
        </p:nvSpPr>
        <p:spPr>
          <a:xfrm>
            <a:off x="7635240" y="2468880"/>
            <a:ext cx="320040" cy="201168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ight Arrow 25">
            <a:extLst>
              <a:ext uri="{FF2B5EF4-FFF2-40B4-BE49-F238E27FC236}">
                <a16:creationId xmlns:a16="http://schemas.microsoft.com/office/drawing/2014/main" id="{3AAFDFBF-1951-D4D7-9B9F-4688029507CD}"/>
              </a:ext>
            </a:extLst>
          </p:cNvPr>
          <p:cNvSpPr/>
          <p:nvPr/>
        </p:nvSpPr>
        <p:spPr>
          <a:xfrm>
            <a:off x="7635240" y="3291840"/>
            <a:ext cx="320040" cy="201168"/>
          </a:xfrm>
          <a:prstGeom prst="right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26">
            <a:extLst>
              <a:ext uri="{FF2B5EF4-FFF2-40B4-BE49-F238E27FC236}">
                <a16:creationId xmlns:a16="http://schemas.microsoft.com/office/drawing/2014/main" id="{C21B6B68-6907-831A-6DCC-72BD6DF13A99}"/>
              </a:ext>
            </a:extLst>
          </p:cNvPr>
          <p:cNvSpPr/>
          <p:nvPr/>
        </p:nvSpPr>
        <p:spPr>
          <a:xfrm>
            <a:off x="8092440" y="1188720"/>
            <a:ext cx="2011680" cy="5486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Cortex Analyst</a:t>
            </a:r>
            <a:br/>
            <a:r>
              <a:t>(NL → SQL)</a:t>
            </a:r>
          </a:p>
        </p:txBody>
      </p:sp>
      <p:sp>
        <p:nvSpPr>
          <p:cNvPr id="55" name="Rounded Rectangle 27">
            <a:extLst>
              <a:ext uri="{FF2B5EF4-FFF2-40B4-BE49-F238E27FC236}">
                <a16:creationId xmlns:a16="http://schemas.microsoft.com/office/drawing/2014/main" id="{0D9F79A6-0E20-4384-881A-45E5592B333F}"/>
              </a:ext>
            </a:extLst>
          </p:cNvPr>
          <p:cNvSpPr/>
          <p:nvPr/>
        </p:nvSpPr>
        <p:spPr>
          <a:xfrm>
            <a:off x="8092440" y="2011680"/>
            <a:ext cx="2011680" cy="5486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F1B2D"/>
                </a:solidFill>
                <a:latin typeface="Calibri"/>
              </a:defRPr>
            </a:pPr>
            <a:r>
              <a:t>Streamlit Dashboard</a:t>
            </a:r>
            <a:br/>
            <a:r>
              <a:t>(7 Pages)</a:t>
            </a:r>
          </a:p>
        </p:txBody>
      </p:sp>
      <p:sp>
        <p:nvSpPr>
          <p:cNvPr id="57" name="Rounded Rectangle 28">
            <a:extLst>
              <a:ext uri="{FF2B5EF4-FFF2-40B4-BE49-F238E27FC236}">
                <a16:creationId xmlns:a16="http://schemas.microsoft.com/office/drawing/2014/main" id="{312F89D3-93BC-FF1F-7F88-CBCF2C7B2FE6}"/>
              </a:ext>
            </a:extLst>
          </p:cNvPr>
          <p:cNvSpPr/>
          <p:nvPr/>
        </p:nvSpPr>
        <p:spPr>
          <a:xfrm>
            <a:off x="8092440" y="2834640"/>
            <a:ext cx="2011680" cy="54864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F1B2D"/>
                </a:solidFill>
                <a:latin typeface="Calibri"/>
              </a:defRPr>
            </a:pPr>
            <a:r>
              <a:t>MCP Server</a:t>
            </a:r>
            <a:br/>
            <a:r>
              <a:t>(AI Agents)</a:t>
            </a:r>
          </a:p>
        </p:txBody>
      </p:sp>
      <p:sp>
        <p:nvSpPr>
          <p:cNvPr id="59" name="Rounded Rectangle 29">
            <a:extLst>
              <a:ext uri="{FF2B5EF4-FFF2-40B4-BE49-F238E27FC236}">
                <a16:creationId xmlns:a16="http://schemas.microsoft.com/office/drawing/2014/main" id="{A2496D6C-0985-81CB-3E07-C6B9A8ABE8F4}"/>
              </a:ext>
            </a:extLst>
          </p:cNvPr>
          <p:cNvSpPr/>
          <p:nvPr/>
        </p:nvSpPr>
        <p:spPr>
          <a:xfrm>
            <a:off x="8092440" y="3657600"/>
            <a:ext cx="2011680" cy="54864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Stream + Task</a:t>
            </a:r>
            <a:br/>
            <a:r>
              <a:t>(Real-time)</a:t>
            </a:r>
          </a:p>
        </p:txBody>
      </p:sp>
      <p:sp>
        <p:nvSpPr>
          <p:cNvPr id="61" name="Rounded Rectangle 30">
            <a:extLst>
              <a:ext uri="{FF2B5EF4-FFF2-40B4-BE49-F238E27FC236}">
                <a16:creationId xmlns:a16="http://schemas.microsoft.com/office/drawing/2014/main" id="{2D5D6B90-9B02-9A51-0365-73491E029005}"/>
              </a:ext>
            </a:extLst>
          </p:cNvPr>
          <p:cNvSpPr/>
          <p:nvPr/>
        </p:nvSpPr>
        <p:spPr>
          <a:xfrm>
            <a:off x="-1325880" y="5303520"/>
            <a:ext cx="201168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Built 100% with</a:t>
            </a:r>
            <a:br/>
            <a:r>
              <a:t>Cortex Code (CoCo)</a:t>
            </a:r>
          </a:p>
        </p:txBody>
      </p:sp>
      <p:sp>
        <p:nvSpPr>
          <p:cNvPr id="63" name="Rounded Rectangle 31">
            <a:extLst>
              <a:ext uri="{FF2B5EF4-FFF2-40B4-BE49-F238E27FC236}">
                <a16:creationId xmlns:a16="http://schemas.microsoft.com/office/drawing/2014/main" id="{0461D813-4D1E-7859-7E6D-1F0563DB91EC}"/>
              </a:ext>
            </a:extLst>
          </p:cNvPr>
          <p:cNvSpPr/>
          <p:nvPr/>
        </p:nvSpPr>
        <p:spPr>
          <a:xfrm>
            <a:off x="868680" y="5303520"/>
            <a:ext cx="9235440" cy="45720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B0BEC5"/>
                </a:solidFill>
                <a:latin typeface="Calibri"/>
              </a:defRPr>
            </a:pPr>
            <a:r>
              <a:t>SC_GOV: RBAC (4 Roles) | ACTION_AUDIT | KPI_REGISTRY (24 Governed Definitions) | Evidence &amp; Lineage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43B526-1C66-FDE1-0922-B192D5E86B90}"/>
              </a:ext>
            </a:extLst>
          </p:cNvPr>
          <p:cNvSpPr txBox="1"/>
          <p:nvPr/>
        </p:nvSpPr>
        <p:spPr>
          <a:xfrm>
            <a:off x="-13258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rPr dirty="0" err="1"/>
              <a:t>CoCo</a:t>
            </a:r>
            <a:r>
              <a:rPr dirty="0"/>
              <a:t> Skills: </a:t>
            </a:r>
            <a:r>
              <a:rPr dirty="0" err="1"/>
              <a:t>sql</a:t>
            </a:r>
            <a:r>
              <a:rPr dirty="0"/>
              <a:t>-author | </a:t>
            </a:r>
            <a:r>
              <a:rPr dirty="0" err="1"/>
              <a:t>snowpark</a:t>
            </a:r>
            <a:r>
              <a:rPr dirty="0"/>
              <a:t>-python | integrations | snowflake-tasks | </a:t>
            </a:r>
            <a:r>
              <a:rPr dirty="0" err="1"/>
              <a:t>streamlit</a:t>
            </a:r>
            <a:r>
              <a:rPr dirty="0"/>
              <a:t>-in-workspaces | data-governance | cortex-ai-function-studio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816C5823-4DE2-5853-259C-C08A8F513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>
            <a:extLst>
              <a:ext uri="{FF2B5EF4-FFF2-40B4-BE49-F238E27FC236}">
                <a16:creationId xmlns:a16="http://schemas.microsoft.com/office/drawing/2014/main" id="{E6EB672D-EFF2-F568-5693-C8B8930BDE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9303" y="0"/>
            <a:ext cx="12532659" cy="658368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0C4467AF-1882-A433-4B6C-6DED172F1CA3}"/>
              </a:ext>
            </a:extLst>
          </p:cNvPr>
          <p:cNvSpPr/>
          <p:nvPr/>
        </p:nvSpPr>
        <p:spPr>
          <a:xfrm>
            <a:off x="-1972056" y="-17750"/>
            <a:ext cx="12595413" cy="45719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71519-059E-D559-DDE8-130819478DD4}"/>
              </a:ext>
            </a:extLst>
          </p:cNvPr>
          <p:cNvSpPr txBox="1"/>
          <p:nvPr/>
        </p:nvSpPr>
        <p:spPr>
          <a:xfrm>
            <a:off x="-1805312" y="539765"/>
            <a:ext cx="11612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GOVERNED KPI MODEL — SINGLESOURCE OF TRUTH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6D7AB0BE-9EF2-2E94-DCE8-B2D4F303524A}"/>
              </a:ext>
            </a:extLst>
          </p:cNvPr>
          <p:cNvSpPr/>
          <p:nvPr/>
        </p:nvSpPr>
        <p:spPr>
          <a:xfrm flipV="1">
            <a:off x="-1819656" y="982980"/>
            <a:ext cx="7521388" cy="50561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2">
            <a:extLst>
              <a:ext uri="{FF2B5EF4-FFF2-40B4-BE49-F238E27FC236}">
                <a16:creationId xmlns:a16="http://schemas.microsoft.com/office/drawing/2014/main" id="{DF156567-C8BA-3396-4D49-F27F190FA752}"/>
              </a:ext>
            </a:extLst>
          </p:cNvPr>
          <p:cNvSpPr/>
          <p:nvPr/>
        </p:nvSpPr>
        <p:spPr>
          <a:xfrm>
            <a:off x="-1500511" y="1391901"/>
            <a:ext cx="5486400" cy="4067067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3C37C-2779-7BA8-EBCC-D2B287BDFBF5}"/>
              </a:ext>
            </a:extLst>
          </p:cNvPr>
          <p:cNvSpPr txBox="1"/>
          <p:nvPr/>
        </p:nvSpPr>
        <p:spPr>
          <a:xfrm>
            <a:off x="-1271911" y="162597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5E8"/>
                </a:solidFill>
                <a:latin typeface="Calibri"/>
              </a:defRPr>
            </a:pPr>
            <a:r>
              <a:rPr dirty="0"/>
              <a:t>HOW GOVERNANCE WORKS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93657-96ED-F49E-E4BF-7A577278557E}"/>
              </a:ext>
            </a:extLst>
          </p:cNvPr>
          <p:cNvSpPr txBox="1"/>
          <p:nvPr/>
        </p:nvSpPr>
        <p:spPr>
          <a:xfrm>
            <a:off x="-1271911" y="2108161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1. Every KPI has a canonical definition in KPI_REGISTRY (SC_ONT)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2. Each stores: formula SQL, numerator/denominator, grain, unit, owner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3. Allowed dimensions &amp; filters stored as JSON arrays per KPI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4. Semantic views (SC_SEM) pre-compute numerators/denominators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5. Cortex Analyst YAML references these exact governed columns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6. No user can invent their own metric — formula is enforced at view level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7. Every query produces evidence: lineage from source file to KPI value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8. All external actions logged in ACTION_AUDIT with payload hash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9. RBAC ensures analysts only see SC_SEM/SC_ONT (not raw data)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10. Tier-1 KPIs validated to exact decimal match on every deployment</a:t>
            </a:r>
          </a:p>
        </p:txBody>
      </p: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D18D3EAB-CAFB-23F4-505D-7B238D27A813}"/>
              </a:ext>
            </a:extLst>
          </p:cNvPr>
          <p:cNvSpPr/>
          <p:nvPr/>
        </p:nvSpPr>
        <p:spPr>
          <a:xfrm>
            <a:off x="4720098" y="1344168"/>
            <a:ext cx="5486400" cy="411480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251BC9-155A-1834-4265-9F66AE8951A1}"/>
              </a:ext>
            </a:extLst>
          </p:cNvPr>
          <p:cNvSpPr txBox="1"/>
          <p:nvPr/>
        </p:nvSpPr>
        <p:spPr>
          <a:xfrm>
            <a:off x="4948698" y="154024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rPr dirty="0"/>
              <a:t>EVIDENCE CHAIN (Example: OTD)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CF4D99-FC0A-B7DA-9D48-D80101327C55}"/>
              </a:ext>
            </a:extLst>
          </p:cNvPr>
          <p:cNvSpPr txBox="1"/>
          <p:nvPr/>
        </p:nvSpPr>
        <p:spPr>
          <a:xfrm>
            <a:off x="4981868" y="191858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9B5E8"/>
                </a:solidFill>
                <a:latin typeface="Calibri"/>
              </a:defRPr>
            </a:pPr>
            <a:r>
              <a:rPr dirty="0"/>
              <a:t>Source File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634BA9-7C61-88DD-D89E-C5AAA5B18A2F}"/>
              </a:ext>
            </a:extLst>
          </p:cNvPr>
          <p:cNvSpPr txBox="1"/>
          <p:nvPr/>
        </p:nvSpPr>
        <p:spPr>
          <a:xfrm>
            <a:off x="6410843" y="188414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rPr dirty="0" err="1"/>
              <a:t>stg_freight</a:t>
            </a:r>
            <a:r>
              <a:rPr dirty="0"/>
              <a:t>/</a:t>
            </a:r>
            <a:r>
              <a:rPr dirty="0" err="1"/>
              <a:t>shipments_master</a:t>
            </a:r>
            <a:r>
              <a:rPr dirty="0"/>
              <a:t>/tms_shipments_master.csv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02354F-89CD-7EEF-3E5D-4970CB480E1A}"/>
              </a:ext>
            </a:extLst>
          </p:cNvPr>
          <p:cNvSpPr txBox="1"/>
          <p:nvPr/>
        </p:nvSpPr>
        <p:spPr>
          <a:xfrm>
            <a:off x="5141440" y="210070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909C"/>
                </a:solidFill>
                <a:latin typeface="Calibri"/>
              </a:defRPr>
            </a:pPr>
            <a:r>
              <a:t>│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E60B70-9708-2F26-5ECF-3D0B5EBB1F9C}"/>
              </a:ext>
            </a:extLst>
          </p:cNvPr>
          <p:cNvSpPr txBox="1"/>
          <p:nvPr/>
        </p:nvSpPr>
        <p:spPr>
          <a:xfrm>
            <a:off x="4966627" y="22735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9B5E8"/>
                </a:solidFill>
                <a:latin typeface="Calibri"/>
              </a:defRPr>
            </a:pPr>
            <a:r>
              <a:rPr dirty="0"/>
              <a:t>Raw Table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A4D807-6886-8AD0-08C6-E22E5CBF2292}"/>
              </a:ext>
            </a:extLst>
          </p:cNvPr>
          <p:cNvSpPr txBox="1"/>
          <p:nvPr/>
        </p:nvSpPr>
        <p:spPr>
          <a:xfrm>
            <a:off x="6410843" y="223373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rPr dirty="0"/>
              <a:t>SC_RAW.TMS_SHIPMENTS_MASTER (10,501 rows)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1A7D47-94F5-1C52-7B80-A765F297E63D}"/>
              </a:ext>
            </a:extLst>
          </p:cNvPr>
          <p:cNvSpPr txBox="1"/>
          <p:nvPr/>
        </p:nvSpPr>
        <p:spPr>
          <a:xfrm>
            <a:off x="5141440" y="247659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909C"/>
                </a:solidFill>
                <a:latin typeface="Calibri"/>
              </a:defRPr>
            </a:pPr>
            <a:r>
              <a:rPr dirty="0"/>
              <a:t>│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8EFE3E-F56C-C168-CBFD-109AEFCE1F4C}"/>
              </a:ext>
            </a:extLst>
          </p:cNvPr>
          <p:cNvSpPr txBox="1"/>
          <p:nvPr/>
        </p:nvSpPr>
        <p:spPr>
          <a:xfrm>
            <a:off x="5038344" y="265550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9B5E8"/>
                </a:solidFill>
                <a:latin typeface="Calibri"/>
              </a:defRPr>
            </a:pPr>
            <a:r>
              <a:t>XREF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E9D56B-1347-BC73-D3B8-AD6216B2F423}"/>
              </a:ext>
            </a:extLst>
          </p:cNvPr>
          <p:cNvSpPr txBox="1"/>
          <p:nvPr/>
        </p:nvSpPr>
        <p:spPr>
          <a:xfrm>
            <a:off x="6429667" y="258266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rPr dirty="0"/>
              <a:t>SC_CURATED.XREF_PLANT (20 plant mappings)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C0D2D7-DDFC-D872-EEF4-18671EF97D57}"/>
              </a:ext>
            </a:extLst>
          </p:cNvPr>
          <p:cNvSpPr txBox="1"/>
          <p:nvPr/>
        </p:nvSpPr>
        <p:spPr>
          <a:xfrm>
            <a:off x="5141440" y="2913045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909C"/>
                </a:solidFill>
                <a:latin typeface="Calibri"/>
              </a:defRPr>
            </a:pPr>
            <a:r>
              <a:rPr dirty="0"/>
              <a:t>│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8C2D8F-0A26-CF3A-F3DD-912B0CEF1858}"/>
              </a:ext>
            </a:extLst>
          </p:cNvPr>
          <p:cNvSpPr txBox="1"/>
          <p:nvPr/>
        </p:nvSpPr>
        <p:spPr>
          <a:xfrm>
            <a:off x="4959456" y="30723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9B5E8"/>
                </a:solidFill>
                <a:latin typeface="Calibri"/>
              </a:defRPr>
            </a:pPr>
            <a:r>
              <a:rPr dirty="0"/>
              <a:t>Curated View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40BEF0-FE9D-1579-977D-218022287396}"/>
              </a:ext>
            </a:extLst>
          </p:cNvPr>
          <p:cNvSpPr txBox="1"/>
          <p:nvPr/>
        </p:nvSpPr>
        <p:spPr>
          <a:xfrm>
            <a:off x="6444908" y="297419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t>SC_CURATED.FACT_SHIPMENTS (is_on_time computed)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80270B-4AE3-2458-8DA1-B637B6BD4532}"/>
              </a:ext>
            </a:extLst>
          </p:cNvPr>
          <p:cNvSpPr txBox="1"/>
          <p:nvPr/>
        </p:nvSpPr>
        <p:spPr>
          <a:xfrm>
            <a:off x="5141440" y="327227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909C"/>
                </a:solidFill>
                <a:latin typeface="Calibri"/>
              </a:defRPr>
            </a:pPr>
            <a:r>
              <a:t>│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1F7E85-B55A-AEEB-D5D7-6091D8D626FC}"/>
              </a:ext>
            </a:extLst>
          </p:cNvPr>
          <p:cNvSpPr txBox="1"/>
          <p:nvPr/>
        </p:nvSpPr>
        <p:spPr>
          <a:xfrm>
            <a:off x="4966627" y="346378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9B5E8"/>
                </a:solidFill>
                <a:latin typeface="Calibri"/>
              </a:defRPr>
            </a:pPr>
            <a:r>
              <a:t>Ontology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F6DF23-7F42-7EC2-639B-B071B3EA705F}"/>
              </a:ext>
            </a:extLst>
          </p:cNvPr>
          <p:cNvSpPr txBox="1"/>
          <p:nvPr/>
        </p:nvSpPr>
        <p:spPr>
          <a:xfrm>
            <a:off x="6470008" y="343457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rPr dirty="0"/>
              <a:t>SC_ONT.ONT_SHIPMENT + KPI_REGISTRY[OTD-001]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7209CBD-858C-11AB-869F-04B96949113D}"/>
              </a:ext>
            </a:extLst>
          </p:cNvPr>
          <p:cNvSpPr txBox="1"/>
          <p:nvPr/>
        </p:nvSpPr>
        <p:spPr>
          <a:xfrm>
            <a:off x="5153091" y="367432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909C"/>
                </a:solidFill>
                <a:latin typeface="Calibri"/>
              </a:defRPr>
            </a:pPr>
            <a:r>
              <a:rPr dirty="0"/>
              <a:t>│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869A98-657D-5DD0-3D2C-42E65CB34DBD}"/>
              </a:ext>
            </a:extLst>
          </p:cNvPr>
          <p:cNvSpPr txBox="1"/>
          <p:nvPr/>
        </p:nvSpPr>
        <p:spPr>
          <a:xfrm>
            <a:off x="4947803" y="388555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9B5E8"/>
                </a:solidFill>
                <a:latin typeface="Calibri"/>
              </a:defRPr>
            </a:pPr>
            <a:r>
              <a:rPr dirty="0"/>
              <a:t>Semantic View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F97C8C1-F425-8601-EE09-90797BE16056}"/>
              </a:ext>
            </a:extLst>
          </p:cNvPr>
          <p:cNvSpPr txBox="1"/>
          <p:nvPr/>
        </p:nvSpPr>
        <p:spPr>
          <a:xfrm>
            <a:off x="6470008" y="389886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rPr dirty="0"/>
              <a:t>SC_SEM.SEM_DELIVERY (OTD_NUMERATOR/DENOMINATOR)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E224AB-9E58-E1C9-1DDA-5A8C75D3DCF4}"/>
              </a:ext>
            </a:extLst>
          </p:cNvPr>
          <p:cNvSpPr txBox="1"/>
          <p:nvPr/>
        </p:nvSpPr>
        <p:spPr>
          <a:xfrm>
            <a:off x="5153091" y="4104773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909C"/>
                </a:solidFill>
                <a:latin typeface="Calibri"/>
              </a:defRPr>
            </a:pPr>
            <a:r>
              <a:rPr dirty="0"/>
              <a:t>│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B1C4218-69A1-0D61-8409-7DAD2BDFDBC2}"/>
              </a:ext>
            </a:extLst>
          </p:cNvPr>
          <p:cNvSpPr txBox="1"/>
          <p:nvPr/>
        </p:nvSpPr>
        <p:spPr>
          <a:xfrm>
            <a:off x="4959456" y="428331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9B5E8"/>
                </a:solidFill>
                <a:latin typeface="Calibri"/>
              </a:defRPr>
            </a:pPr>
            <a:r>
              <a:rPr dirty="0"/>
              <a:t>KPI Formula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4CBD90A-C96E-63A4-36E9-48887BF15147}"/>
              </a:ext>
            </a:extLst>
          </p:cNvPr>
          <p:cNvSpPr txBox="1"/>
          <p:nvPr/>
        </p:nvSpPr>
        <p:spPr>
          <a:xfrm>
            <a:off x="6501384" y="428331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t>SUM(OTD_NUMERATOR)/SUM(OTD_DENOMINATOR)*100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9E68042-E0B9-7894-456F-4F918C80DF68}"/>
              </a:ext>
            </a:extLst>
          </p:cNvPr>
          <p:cNvSpPr txBox="1"/>
          <p:nvPr/>
        </p:nvSpPr>
        <p:spPr>
          <a:xfrm>
            <a:off x="5141440" y="452311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909C"/>
                </a:solidFill>
                <a:latin typeface="Calibri"/>
              </a:defRPr>
            </a:pPr>
            <a:r>
              <a:rPr dirty="0"/>
              <a:t>│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995203E-8322-F33C-DDE3-54E4147F528F}"/>
              </a:ext>
            </a:extLst>
          </p:cNvPr>
          <p:cNvSpPr txBox="1"/>
          <p:nvPr/>
        </p:nvSpPr>
        <p:spPr>
          <a:xfrm>
            <a:off x="5006968" y="46780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Calibri"/>
              </a:defRPr>
            </a:pPr>
            <a:r>
              <a:rPr dirty="0"/>
              <a:t>Result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FF3DEE0-D456-CEBE-D861-BA986BB41E7A}"/>
              </a:ext>
            </a:extLst>
          </p:cNvPr>
          <p:cNvSpPr txBox="1"/>
          <p:nvPr/>
        </p:nvSpPr>
        <p:spPr>
          <a:xfrm>
            <a:off x="6501384" y="467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rPr dirty="0"/>
              <a:t>OTD = 73.22% (VALIDATED ✓)</a:t>
            </a:r>
          </a:p>
        </p:txBody>
      </p:sp>
    </p:spTree>
    <p:extLst>
      <p:ext uri="{BB962C8B-B14F-4D97-AF65-F5344CB8AC3E}">
        <p14:creationId xmlns:p14="http://schemas.microsoft.com/office/powerpoint/2010/main" val="3185135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D0325DC4-A1B5-511F-48EF-2D673A29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>
            <a:extLst>
              <a:ext uri="{FF2B5EF4-FFF2-40B4-BE49-F238E27FC236}">
                <a16:creationId xmlns:a16="http://schemas.microsoft.com/office/drawing/2014/main" id="{BA625AFA-2568-4C9B-962A-9B13EFCE30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83623" y="0"/>
            <a:ext cx="12532659" cy="658368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EF04F20B-175A-7595-48EB-E8005623A06D}"/>
              </a:ext>
            </a:extLst>
          </p:cNvPr>
          <p:cNvSpPr/>
          <p:nvPr/>
        </p:nvSpPr>
        <p:spPr>
          <a:xfrm>
            <a:off x="-2246376" y="-17750"/>
            <a:ext cx="12595413" cy="45719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6C889-9D58-583A-09B5-BB04D8306988}"/>
              </a:ext>
            </a:extLst>
          </p:cNvPr>
          <p:cNvSpPr txBox="1"/>
          <p:nvPr/>
        </p:nvSpPr>
        <p:spPr>
          <a:xfrm>
            <a:off x="-2093976" y="718209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IMPACT STATEMENT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51D380F3-717D-23E7-D094-79B7E27A34DE}"/>
              </a:ext>
            </a:extLst>
          </p:cNvPr>
          <p:cNvSpPr/>
          <p:nvPr/>
        </p:nvSpPr>
        <p:spPr>
          <a:xfrm>
            <a:off x="-1995364" y="1204853"/>
            <a:ext cx="1828800" cy="36576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FBE61A13-7B25-1787-465E-BF7854E9066E}"/>
              </a:ext>
            </a:extLst>
          </p:cNvPr>
          <p:cNvSpPr/>
          <p:nvPr/>
        </p:nvSpPr>
        <p:spPr>
          <a:xfrm>
            <a:off x="-1793210" y="2297430"/>
            <a:ext cx="2651760" cy="3008958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326C09-DD77-7DFB-A280-66EB9A87DF38}"/>
              </a:ext>
            </a:extLst>
          </p:cNvPr>
          <p:cNvSpPr txBox="1"/>
          <p:nvPr/>
        </p:nvSpPr>
        <p:spPr>
          <a:xfrm>
            <a:off x="-1652015" y="2343155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rPr sz="1600" dirty="0"/>
              <a:t>TIME SAVED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42F5DB-8830-B2B4-AFCA-E49974EB78B0}"/>
              </a:ext>
            </a:extLst>
          </p:cNvPr>
          <p:cNvSpPr txBox="1"/>
          <p:nvPr/>
        </p:nvSpPr>
        <p:spPr>
          <a:xfrm>
            <a:off x="-1652016" y="2633163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80%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F3B2AB-489A-5BA6-7922-71877F7F96FD}"/>
              </a:ext>
            </a:extLst>
          </p:cNvPr>
          <p:cNvSpPr txBox="1"/>
          <p:nvPr/>
        </p:nvSpPr>
        <p:spPr>
          <a:xfrm>
            <a:off x="-1760490" y="3236109"/>
            <a:ext cx="228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rPr sz="1600" dirty="0"/>
              <a:t>reduction in analyst</a:t>
            </a:r>
            <a:br>
              <a:rPr sz="1600" dirty="0"/>
            </a:br>
            <a:r>
              <a:rPr sz="1600" dirty="0"/>
              <a:t>data-finding time. 5 systems</a:t>
            </a:r>
            <a:br>
              <a:rPr sz="1600" dirty="0"/>
            </a:br>
            <a:r>
              <a:rPr sz="1600" dirty="0"/>
              <a:t>unified into one query layer.</a:t>
            </a:r>
            <a:br>
              <a:rPr sz="1600" dirty="0"/>
            </a:br>
            <a:r>
              <a:rPr sz="1600" dirty="0"/>
              <a:t>Hours of joins → instant NL.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4DB5E5AD-E53B-9A53-A2EB-64A98D4F02EA}"/>
              </a:ext>
            </a:extLst>
          </p:cNvPr>
          <p:cNvSpPr/>
          <p:nvPr/>
        </p:nvSpPr>
        <p:spPr>
          <a:xfrm>
            <a:off x="1283028" y="2297429"/>
            <a:ext cx="2651760" cy="3008957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9AD5E3-7DA2-202E-EC8B-868C5BA4E0FB}"/>
              </a:ext>
            </a:extLst>
          </p:cNvPr>
          <p:cNvSpPr txBox="1"/>
          <p:nvPr/>
        </p:nvSpPr>
        <p:spPr>
          <a:xfrm>
            <a:off x="1380744" y="2440865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B5E8"/>
                </a:solidFill>
                <a:latin typeface="Calibri"/>
              </a:defRPr>
            </a:pPr>
            <a:r>
              <a:rPr sz="1600" dirty="0"/>
              <a:t>ACCURACY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0503F-F156-1C52-8AC7-72060F4907FA}"/>
              </a:ext>
            </a:extLst>
          </p:cNvPr>
          <p:cNvSpPr txBox="1"/>
          <p:nvPr/>
        </p:nvSpPr>
        <p:spPr>
          <a:xfrm>
            <a:off x="1283027" y="266319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100%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A17033-3BB6-F6A6-241F-FB4CAADECADC}"/>
              </a:ext>
            </a:extLst>
          </p:cNvPr>
          <p:cNvSpPr txBox="1"/>
          <p:nvPr/>
        </p:nvSpPr>
        <p:spPr>
          <a:xfrm>
            <a:off x="1335024" y="3326130"/>
            <a:ext cx="228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rPr sz="1600" dirty="0"/>
              <a:t>KPI consistency across all</a:t>
            </a:r>
            <a:br>
              <a:rPr sz="1600" dirty="0"/>
            </a:br>
            <a:r>
              <a:rPr sz="1600" dirty="0"/>
              <a:t>consumers. 24 governed </a:t>
            </a:r>
            <a:r>
              <a:rPr sz="1600" dirty="0" err="1"/>
              <a:t>defs</a:t>
            </a:r>
            <a:br>
              <a:rPr sz="1600" dirty="0"/>
            </a:br>
            <a:r>
              <a:rPr sz="1600" dirty="0"/>
              <a:t>eliminate metric conflicts.</a:t>
            </a:r>
            <a:br>
              <a:rPr sz="1600" dirty="0"/>
            </a:br>
            <a:r>
              <a:rPr sz="1600" dirty="0"/>
              <a:t>All validated to 2 decimals.</a:t>
            </a:r>
          </a:p>
        </p:txBody>
      </p:sp>
      <p:sp>
        <p:nvSpPr>
          <p:cNvPr id="26" name="Rounded Rectangle 12">
            <a:extLst>
              <a:ext uri="{FF2B5EF4-FFF2-40B4-BE49-F238E27FC236}">
                <a16:creationId xmlns:a16="http://schemas.microsoft.com/office/drawing/2014/main" id="{AC89965F-A509-A2C4-E33E-57267844CC8C}"/>
              </a:ext>
            </a:extLst>
          </p:cNvPr>
          <p:cNvSpPr/>
          <p:nvPr/>
        </p:nvSpPr>
        <p:spPr>
          <a:xfrm>
            <a:off x="4424262" y="2242520"/>
            <a:ext cx="2651760" cy="3063865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F5C97D-BE76-AB61-36CB-B1793AE33A76}"/>
              </a:ext>
            </a:extLst>
          </p:cNvPr>
          <p:cNvSpPr txBox="1"/>
          <p:nvPr/>
        </p:nvSpPr>
        <p:spPr>
          <a:xfrm>
            <a:off x="4509426" y="2339455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alibri"/>
              </a:defRPr>
            </a:pPr>
            <a:r>
              <a:rPr sz="1600" dirty="0"/>
              <a:t>AUDITABILITY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9FC965-DBD7-ED45-DC98-D9D8ACBB4E58}"/>
              </a:ext>
            </a:extLst>
          </p:cNvPr>
          <p:cNvSpPr txBox="1"/>
          <p:nvPr/>
        </p:nvSpPr>
        <p:spPr>
          <a:xfrm>
            <a:off x="4509426" y="2651035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D5072B-CC84-0422-BCD6-DCD8147DD7AE}"/>
              </a:ext>
            </a:extLst>
          </p:cNvPr>
          <p:cNvSpPr txBox="1"/>
          <p:nvPr/>
        </p:nvSpPr>
        <p:spPr>
          <a:xfrm>
            <a:off x="4545285" y="3206546"/>
            <a:ext cx="228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rPr sz="1600" dirty="0"/>
              <a:t>lineage from source file to</a:t>
            </a:r>
            <a:br>
              <a:rPr sz="1600" dirty="0"/>
            </a:br>
            <a:r>
              <a:rPr sz="1600" dirty="0"/>
              <a:t>KPI value. Evidence chain on</a:t>
            </a:r>
            <a:br>
              <a:rPr sz="1600" dirty="0"/>
            </a:br>
            <a:r>
              <a:rPr sz="1600" dirty="0"/>
              <a:t>every query. ACTION_AUDIT</a:t>
            </a:r>
            <a:br>
              <a:rPr sz="1600" dirty="0"/>
            </a:br>
            <a:r>
              <a:rPr sz="1600" dirty="0"/>
              <a:t>logs all external actions.</a:t>
            </a:r>
          </a:p>
        </p:txBody>
      </p:sp>
      <p:sp>
        <p:nvSpPr>
          <p:cNvPr id="40" name="Rounded Rectangle 16">
            <a:extLst>
              <a:ext uri="{FF2B5EF4-FFF2-40B4-BE49-F238E27FC236}">
                <a16:creationId xmlns:a16="http://schemas.microsoft.com/office/drawing/2014/main" id="{A1633454-7194-76D6-BC79-44E71C132389}"/>
              </a:ext>
            </a:extLst>
          </p:cNvPr>
          <p:cNvSpPr/>
          <p:nvPr/>
        </p:nvSpPr>
        <p:spPr>
          <a:xfrm>
            <a:off x="7304620" y="2240003"/>
            <a:ext cx="2651760" cy="3063864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D51930-6756-9374-B94B-2911E18C32AA}"/>
              </a:ext>
            </a:extLst>
          </p:cNvPr>
          <p:cNvSpPr txBox="1"/>
          <p:nvPr/>
        </p:nvSpPr>
        <p:spPr>
          <a:xfrm>
            <a:off x="7487500" y="2328937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4DFF"/>
                </a:solidFill>
                <a:latin typeface="Calibri"/>
              </a:defRPr>
            </a:pPr>
            <a:r>
              <a:rPr sz="1600" dirty="0"/>
              <a:t>DEPLOYMENT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D22584-1711-C675-79B1-33E71D08E1CB}"/>
              </a:ext>
            </a:extLst>
          </p:cNvPr>
          <p:cNvSpPr txBox="1"/>
          <p:nvPr/>
        </p:nvSpPr>
        <p:spPr>
          <a:xfrm>
            <a:off x="7389785" y="2526475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&lt;1 </a:t>
            </a:r>
            <a:r>
              <a:rPr dirty="0" err="1"/>
              <a:t>hr</a:t>
            </a:r>
            <a:endParaRPr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2E6C48-9555-1B8F-EA10-ED9A432027A2}"/>
              </a:ext>
            </a:extLst>
          </p:cNvPr>
          <p:cNvSpPr txBox="1"/>
          <p:nvPr/>
        </p:nvSpPr>
        <p:spPr>
          <a:xfrm>
            <a:off x="7472709" y="3090400"/>
            <a:ext cx="228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rPr sz="1600" dirty="0"/>
              <a:t>entire project deployed via</a:t>
            </a:r>
            <a:br>
              <a:rPr sz="1600" dirty="0"/>
            </a:br>
            <a:r>
              <a:rPr sz="1600" dirty="0" err="1"/>
              <a:t>CoCo</a:t>
            </a:r>
            <a:r>
              <a:rPr sz="1600" dirty="0"/>
              <a:t>. 16 phases, 155K rows,</a:t>
            </a:r>
            <a:br>
              <a:rPr sz="1600" dirty="0"/>
            </a:br>
            <a:r>
              <a:rPr sz="1600" dirty="0"/>
              <a:t>70+ objects created. Zero</a:t>
            </a:r>
            <a:br>
              <a:rPr sz="1600" dirty="0"/>
            </a:br>
            <a:r>
              <a:rPr sz="1600" dirty="0"/>
              <a:t>manual SQL execution.</a:t>
            </a:r>
          </a:p>
        </p:txBody>
      </p:sp>
    </p:spTree>
    <p:extLst>
      <p:ext uri="{BB962C8B-B14F-4D97-AF65-F5344CB8AC3E}">
        <p14:creationId xmlns:p14="http://schemas.microsoft.com/office/powerpoint/2010/main" val="384476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6C20F084-1C6E-2A41-F342-3EE29FBB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>
            <a:extLst>
              <a:ext uri="{FF2B5EF4-FFF2-40B4-BE49-F238E27FC236}">
                <a16:creationId xmlns:a16="http://schemas.microsoft.com/office/drawing/2014/main" id="{72453408-CC6B-71EF-0D72-73077833C3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11055" y="0"/>
            <a:ext cx="12532659" cy="658368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0F5B4B6A-1D2E-CA66-E8C3-05063D5033E7}"/>
              </a:ext>
            </a:extLst>
          </p:cNvPr>
          <p:cNvSpPr/>
          <p:nvPr/>
        </p:nvSpPr>
        <p:spPr>
          <a:xfrm>
            <a:off x="-2273808" y="-17750"/>
            <a:ext cx="12595413" cy="45719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A6243-EF7C-161A-A212-2F38C98BF21C}"/>
              </a:ext>
            </a:extLst>
          </p:cNvPr>
          <p:cNvSpPr txBox="1"/>
          <p:nvPr/>
        </p:nvSpPr>
        <p:spPr>
          <a:xfrm>
            <a:off x="-2107064" y="539765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IMPACT STATEMENT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2197B23D-121C-255E-3BAD-0424CCA7BFDE}"/>
              </a:ext>
            </a:extLst>
          </p:cNvPr>
          <p:cNvSpPr/>
          <p:nvPr/>
        </p:nvSpPr>
        <p:spPr>
          <a:xfrm>
            <a:off x="-2121408" y="1033541"/>
            <a:ext cx="1828800" cy="36576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20">
            <a:extLst>
              <a:ext uri="{FF2B5EF4-FFF2-40B4-BE49-F238E27FC236}">
                <a16:creationId xmlns:a16="http://schemas.microsoft.com/office/drawing/2014/main" id="{23129449-9B8B-446C-A7DE-7936F07F84D5}"/>
              </a:ext>
            </a:extLst>
          </p:cNvPr>
          <p:cNvSpPr/>
          <p:nvPr/>
        </p:nvSpPr>
        <p:spPr>
          <a:xfrm>
            <a:off x="-2002179" y="1556762"/>
            <a:ext cx="5486400" cy="4188898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BC7B6D-865A-46F9-91CE-0D351882E93C}"/>
              </a:ext>
            </a:extLst>
          </p:cNvPr>
          <p:cNvSpPr txBox="1"/>
          <p:nvPr/>
        </p:nvSpPr>
        <p:spPr>
          <a:xfrm>
            <a:off x="-1878464" y="1951047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5E8"/>
                </a:solidFill>
                <a:latin typeface="Calibri"/>
              </a:defRPr>
            </a:pPr>
            <a:r>
              <a:rPr sz="2000" dirty="0"/>
              <a:t>SCALABILITY POTENTIAL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1FB3B7-1410-BB1F-109E-7E4C8A51957B}"/>
              </a:ext>
            </a:extLst>
          </p:cNvPr>
          <p:cNvSpPr txBox="1"/>
          <p:nvPr/>
        </p:nvSpPr>
        <p:spPr>
          <a:xfrm>
            <a:off x="-2002180" y="2559466"/>
            <a:ext cx="5317864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Add new source systems: create stage + raw table + XREF — no app changes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Add new KPIs: INSERT into KPI_REGISTRY — no code changes needed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Stream + Task scales to real-time (&lt;60s latency) event processing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RBAC extends to 100+ users with schema-level isolation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Cortex Analyst YAML supports new tables/measures without app rebuild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MCP Server enables any external AI agent to query governed data</a:t>
            </a:r>
          </a:p>
        </p:txBody>
      </p:sp>
      <p:sp>
        <p:nvSpPr>
          <p:cNvPr id="55" name="Rounded Rectangle 23">
            <a:extLst>
              <a:ext uri="{FF2B5EF4-FFF2-40B4-BE49-F238E27FC236}">
                <a16:creationId xmlns:a16="http://schemas.microsoft.com/office/drawing/2014/main" id="{C7FE313C-A4C2-C72B-A509-6E63D761D0C0}"/>
              </a:ext>
            </a:extLst>
          </p:cNvPr>
          <p:cNvSpPr/>
          <p:nvPr/>
        </p:nvSpPr>
        <p:spPr>
          <a:xfrm>
            <a:off x="4422826" y="1556762"/>
            <a:ext cx="5486400" cy="4188898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D56F82-3974-7572-0923-746EE4D85C0D}"/>
              </a:ext>
            </a:extLst>
          </p:cNvPr>
          <p:cNvSpPr txBox="1"/>
          <p:nvPr/>
        </p:nvSpPr>
        <p:spPr>
          <a:xfrm>
            <a:off x="4651426" y="1992007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rPr sz="2000" dirty="0"/>
              <a:t>BEYOND THE DEMO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BAB8A0-159A-9D88-FA78-8E5C43A22AF2}"/>
              </a:ext>
            </a:extLst>
          </p:cNvPr>
          <p:cNvSpPr txBox="1"/>
          <p:nvPr/>
        </p:nvSpPr>
        <p:spPr>
          <a:xfrm>
            <a:off x="4561779" y="2545482"/>
            <a:ext cx="502920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Connect real Jira/ServiceNow for automated incident creation on KPI breach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Twilio integration for SMS/WhatsApp alerting when thresholds are crossed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Dynamic Tables for zero-maintenance incremental refresh across all layers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Cortex Search for document-based supply chain intelligence (contracts, BOL)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ML anomaly detection on IoT sensor readings (Cortex ML functions)</a:t>
            </a:r>
          </a:p>
          <a:p>
            <a:pPr>
              <a:spcAft>
                <a:spcPts val="600"/>
              </a:spcAft>
              <a:defRPr sz="1100">
                <a:solidFill>
                  <a:srgbClr val="B0BEC5"/>
                </a:solidFill>
                <a:latin typeface="Calibri"/>
              </a:defRPr>
            </a:pPr>
            <a:r>
              <a:rPr dirty="0"/>
              <a:t>Extend ontology to customer satisfaction, returns, warranty claims data</a:t>
            </a:r>
          </a:p>
        </p:txBody>
      </p:sp>
    </p:spTree>
    <p:extLst>
      <p:ext uri="{BB962C8B-B14F-4D97-AF65-F5344CB8AC3E}">
        <p14:creationId xmlns:p14="http://schemas.microsoft.com/office/powerpoint/2010/main" val="2660813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157B140E-C3B5-7B43-14A2-456FEE53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>
            <a:extLst>
              <a:ext uri="{FF2B5EF4-FFF2-40B4-BE49-F238E27FC236}">
                <a16:creationId xmlns:a16="http://schemas.microsoft.com/office/drawing/2014/main" id="{80C4ACAC-B530-E626-2144-9C888AD85F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29656" y="54864"/>
            <a:ext cx="12532659" cy="658368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8" name="Rounded Rectangle 1">
            <a:extLst>
              <a:ext uri="{FF2B5EF4-FFF2-40B4-BE49-F238E27FC236}">
                <a16:creationId xmlns:a16="http://schemas.microsoft.com/office/drawing/2014/main" id="{145CD243-D85F-8FF0-952B-321E9E1F1C57}"/>
              </a:ext>
            </a:extLst>
          </p:cNvPr>
          <p:cNvSpPr/>
          <p:nvPr/>
        </p:nvSpPr>
        <p:spPr>
          <a:xfrm>
            <a:off x="-2096334" y="0"/>
            <a:ext cx="12499337" cy="54864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9F3041-234D-2F35-841E-943E802A26AA}"/>
              </a:ext>
            </a:extLst>
          </p:cNvPr>
          <p:cNvSpPr txBox="1"/>
          <p:nvPr/>
        </p:nvSpPr>
        <p:spPr>
          <a:xfrm>
            <a:off x="-1029686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SUPPLY CHAIN COMMAND CENTER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A9F71-623B-B404-EC64-F5E41C8EB60A}"/>
              </a:ext>
            </a:extLst>
          </p:cNvPr>
          <p:cNvSpPr txBox="1"/>
          <p:nvPr/>
        </p:nvSpPr>
        <p:spPr>
          <a:xfrm>
            <a:off x="-1029686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9B5E8"/>
                </a:solidFill>
                <a:latin typeface="Calibri"/>
              </a:defRPr>
            </a:pPr>
            <a:r>
              <a:rPr dirty="0"/>
              <a:t>One Database. Five Systems Unified. 24 Governed KPIs. Zero Metric Conflicts.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E6C65232-0020-EB21-D692-75679D246D7D}"/>
              </a:ext>
            </a:extLst>
          </p:cNvPr>
          <p:cNvSpPr/>
          <p:nvPr/>
        </p:nvSpPr>
        <p:spPr>
          <a:xfrm>
            <a:off x="2947954" y="3127248"/>
            <a:ext cx="2103120" cy="36576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C7DFBE-666A-79F0-6AA1-2C74BA52E731}"/>
              </a:ext>
            </a:extLst>
          </p:cNvPr>
          <p:cNvSpPr txBox="1"/>
          <p:nvPr/>
        </p:nvSpPr>
        <p:spPr>
          <a:xfrm>
            <a:off x="-846806" y="37490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B5E8"/>
                </a:solidFill>
                <a:latin typeface="Calibri"/>
              </a:defRPr>
            </a:pPr>
            <a:r>
              <a:rPr dirty="0"/>
              <a:t>155K+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4DE246-1CF3-CFFC-5FE8-461A3C24E134}"/>
              </a:ext>
            </a:extLst>
          </p:cNvPr>
          <p:cNvSpPr txBox="1"/>
          <p:nvPr/>
        </p:nvSpPr>
        <p:spPr>
          <a:xfrm>
            <a:off x="-846806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/>
              </a:defRPr>
            </a:pPr>
            <a:r>
              <a:t>Rows Loaded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775F25-64A5-769F-13E9-D2B3ACC8E198}"/>
              </a:ext>
            </a:extLst>
          </p:cNvPr>
          <p:cNvSpPr txBox="1"/>
          <p:nvPr/>
        </p:nvSpPr>
        <p:spPr>
          <a:xfrm>
            <a:off x="890554" y="37490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B5E8"/>
                </a:solidFill>
                <a:latin typeface="Calibri"/>
              </a:defRPr>
            </a:pPr>
            <a:r>
              <a:t>70+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15B13D-59ED-7DB4-F267-022F75FAE737}"/>
              </a:ext>
            </a:extLst>
          </p:cNvPr>
          <p:cNvSpPr txBox="1"/>
          <p:nvPr/>
        </p:nvSpPr>
        <p:spPr>
          <a:xfrm>
            <a:off x="890554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/>
              </a:defRPr>
            </a:pPr>
            <a:r>
              <a:t>Objects Created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1889F8-3EB1-B2D0-A97C-636B203290D6}"/>
              </a:ext>
            </a:extLst>
          </p:cNvPr>
          <p:cNvSpPr txBox="1"/>
          <p:nvPr/>
        </p:nvSpPr>
        <p:spPr>
          <a:xfrm>
            <a:off x="2627914" y="37490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B5E8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8875B8-6FE6-5FD0-0662-5E2C74C78550}"/>
              </a:ext>
            </a:extLst>
          </p:cNvPr>
          <p:cNvSpPr txBox="1"/>
          <p:nvPr/>
        </p:nvSpPr>
        <p:spPr>
          <a:xfrm>
            <a:off x="2627914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/>
              </a:defRPr>
            </a:pPr>
            <a:r>
              <a:t>Governed KPIs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C2DED0-61F8-AAE9-2C69-CFEC52EB3ED0}"/>
              </a:ext>
            </a:extLst>
          </p:cNvPr>
          <p:cNvSpPr txBox="1"/>
          <p:nvPr/>
        </p:nvSpPr>
        <p:spPr>
          <a:xfrm>
            <a:off x="4365274" y="37490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B5E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CE84CD-8F6C-C708-C964-F71A60515149}"/>
              </a:ext>
            </a:extLst>
          </p:cNvPr>
          <p:cNvSpPr txBox="1"/>
          <p:nvPr/>
        </p:nvSpPr>
        <p:spPr>
          <a:xfrm>
            <a:off x="4365274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/>
              </a:defRPr>
            </a:pPr>
            <a:r>
              <a:t>T1 KPIs Validated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311722-37F1-FA2E-AA7B-B45634E68B7F}"/>
              </a:ext>
            </a:extLst>
          </p:cNvPr>
          <p:cNvSpPr txBox="1"/>
          <p:nvPr/>
        </p:nvSpPr>
        <p:spPr>
          <a:xfrm>
            <a:off x="6102634" y="37490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B5E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99FD90-0BC3-4299-8F93-8F15382C6E3F}"/>
              </a:ext>
            </a:extLst>
          </p:cNvPr>
          <p:cNvSpPr txBox="1"/>
          <p:nvPr/>
        </p:nvSpPr>
        <p:spPr>
          <a:xfrm>
            <a:off x="6102634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/>
              </a:defRPr>
            </a:pPr>
            <a:r>
              <a:t>SF Features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4505DC-9DDB-1A92-F161-C703E0D92480}"/>
              </a:ext>
            </a:extLst>
          </p:cNvPr>
          <p:cNvSpPr txBox="1"/>
          <p:nvPr/>
        </p:nvSpPr>
        <p:spPr>
          <a:xfrm>
            <a:off x="7839994" y="37490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B5E8"/>
                </a:solidFill>
                <a:latin typeface="Calibri"/>
              </a:defRPr>
            </a:pPr>
            <a:r>
              <a:t>&lt;1hr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0E0241-C703-C224-C85F-D55921FE630A}"/>
              </a:ext>
            </a:extLst>
          </p:cNvPr>
          <p:cNvSpPr txBox="1"/>
          <p:nvPr/>
        </p:nvSpPr>
        <p:spPr>
          <a:xfrm>
            <a:off x="7839994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/>
              </a:defRPr>
            </a:pPr>
            <a:r>
              <a:t>CoCo Deploy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F41E94-FFE0-E904-3E7A-C77582F700B9}"/>
              </a:ext>
            </a:extLst>
          </p:cNvPr>
          <p:cNvSpPr txBox="1"/>
          <p:nvPr/>
        </p:nvSpPr>
        <p:spPr>
          <a:xfrm>
            <a:off x="-1029686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909C"/>
                </a:solidFill>
                <a:latin typeface="Calibri"/>
              </a:defRPr>
            </a:pPr>
            <a:r>
              <a:t>"Not just a dashboard — a governed analytics platform where every number has a lineage trail."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E7DE54-B467-0E7A-E14F-C39401CFBD0F}"/>
              </a:ext>
            </a:extLst>
          </p:cNvPr>
          <p:cNvSpPr txBox="1"/>
          <p:nvPr/>
        </p:nvSpPr>
        <p:spPr>
          <a:xfrm>
            <a:off x="-1029686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Thank You  |  Questions?</a:t>
            </a:r>
          </a:p>
        </p:txBody>
      </p:sp>
    </p:spTree>
    <p:extLst>
      <p:ext uri="{BB962C8B-B14F-4D97-AF65-F5344CB8AC3E}">
        <p14:creationId xmlns:p14="http://schemas.microsoft.com/office/powerpoint/2010/main" val="20300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52919" y="-833718"/>
            <a:ext cx="13473953" cy="6642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1145</Words>
  <Application>Microsoft Office PowerPoint</Application>
  <PresentationFormat>On-screen Show (16:9)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Ayushi Dubey</cp:lastModifiedBy>
  <cp:revision>26</cp:revision>
  <dcterms:modified xsi:type="dcterms:W3CDTF">2026-10-02T04:26:03Z</dcterms:modified>
</cp:coreProperties>
</file>